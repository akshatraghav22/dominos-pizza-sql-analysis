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7.jpg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3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_pizz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731520"/>
            <a:ext cx="4754880" cy="2926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91440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DOMINO'S ANALYTICS  |  MYSQL 8.0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DOMINO'S PIZZA</a:t>
            </a:r>
            <a:br/>
            <a:r>
              <a:t>SQL SALES ANALYSIS</a:t>
            </a:r>
          </a:p>
          <a:p>
            <a:pPr>
              <a:defRPr sz="1350">
                <a:solidFill>
                  <a:srgbClr val="CBD5E1"/>
                </a:solidFill>
              </a:defRPr>
            </a:pPr>
            <a:r>
              <a:t>Turning 48,000+ Pizza Sales Transactions into Actionable Business Insights Using MySQL &amp; Data Storytelling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37760"/>
            <a:ext cx="2468880" cy="1188720"/>
          </a:xfrm>
          <a:prstGeom prst="roundRect">
            <a:avLst/>
          </a:prstGeom>
          <a:solidFill>
            <a:srgbClr val="112A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94A3B8"/>
                </a:solidFill>
              </a:defRPr>
            </a:pPr>
            <a:r>
              <a:t>TOTAL REVENUE</a:t>
            </a:r>
          </a:p>
          <a:p>
            <a:pPr>
              <a:defRPr sz="2200" b="1">
                <a:solidFill>
                  <a:srgbClr val="38BDF8"/>
                </a:solidFill>
              </a:defRPr>
            </a:pPr>
            <a:r>
              <a:t>$817,860.05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4937760"/>
            <a:ext cx="2468880" cy="1188720"/>
          </a:xfrm>
          <a:prstGeom prst="roundRect">
            <a:avLst/>
          </a:prstGeom>
          <a:solidFill>
            <a:srgbClr val="112A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94A3B8"/>
                </a:solidFill>
              </a:defRPr>
            </a:pPr>
            <a:r>
              <a:t>TOTAL ORDERS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21,350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937760"/>
            <a:ext cx="2468880" cy="1188720"/>
          </a:xfrm>
          <a:prstGeom prst="roundRect">
            <a:avLst/>
          </a:prstGeom>
          <a:solidFill>
            <a:srgbClr val="112A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94A3B8"/>
                </a:solidFill>
              </a:defRPr>
            </a:pPr>
            <a:r>
              <a:t>PIZZAS SOLD</a:t>
            </a:r>
          </a:p>
          <a:p>
            <a:pPr>
              <a:defRPr sz="2200" b="1">
                <a:solidFill>
                  <a:srgbClr val="E31837"/>
                </a:solidFill>
              </a:defRPr>
            </a:pPr>
            <a:r>
              <a:t>49,574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4937760"/>
            <a:ext cx="2468880" cy="1188720"/>
          </a:xfrm>
          <a:prstGeom prst="roundRect">
            <a:avLst/>
          </a:prstGeom>
          <a:solidFill>
            <a:srgbClr val="112A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94A3B8"/>
                </a:solidFill>
              </a:defRPr>
            </a:pPr>
            <a:r>
              <a:t>AVG BASKET</a:t>
            </a:r>
          </a:p>
          <a:p>
            <a:pPr>
              <a:defRPr sz="2200" b="1">
                <a:solidFill>
                  <a:srgbClr val="34D399"/>
                </a:solidFill>
              </a:defRPr>
            </a:pPr>
            <a:r>
              <a:t>$38.31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6491"/>
                </a:solidFill>
              </a:defRPr>
            </a:pPr>
            <a:r>
              <a:t>DOMINO'S ANALYTICS  | 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2341"/>
                </a:solidFill>
              </a:defRPr>
            </a:pPr>
            <a:r>
              <a:t>Project Overview &amp; Business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Transforming transactional records into high-impact restaurant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02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864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B2341"/>
                </a:solidFill>
              </a:defRPr>
            </a:pPr>
            <a:r>
              <a:t>BUSINESS CONTEXT &amp; STRATEGIC OBJECTIVES</a:t>
            </a:r>
            <a:br/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QSR Dynamics: Domino's operates on tight margins, perishable stock, and fast delivery windows.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Sales Velocity: Measure gross revenue ($817.8K) and transaction frequency across 2015.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Operational Rhythms: Map order concentration by hour to synchronize staffing with lunch &amp; dinner rushes.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Portfolio Productivity: Evaluate whether 32 menu items are optimized or suffering from SKU clutter.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Actionable Value: Produce data-backed recommendations for inventory, labor scheduling, and menu pricing.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9496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izza_cutt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201168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95360" y="1645920"/>
            <a:ext cx="2834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B2341"/>
                </a:solidFill>
              </a:defRPr>
            </a:pPr>
            <a:r>
              <a:t>OPERATIONAL SCOPE</a:t>
            </a:r>
          </a:p>
          <a:p>
            <a:pPr>
              <a:defRPr sz="1000">
                <a:solidFill>
                  <a:srgbClr val="006491"/>
                </a:solidFill>
              </a:defRPr>
            </a:pPr>
            <a:r>
              <a:t>✔ Engine: MySQL 8.0</a:t>
            </a:r>
          </a:p>
          <a:p>
            <a:pPr>
              <a:defRPr sz="1000">
                <a:solidFill>
                  <a:srgbClr val="006491"/>
                </a:solidFill>
              </a:defRPr>
            </a:pPr>
            <a:r>
              <a:t>✔ Scope: 358 Operating Days</a:t>
            </a:r>
          </a:p>
          <a:p>
            <a:pPr>
              <a:defRPr sz="1000">
                <a:solidFill>
                  <a:srgbClr val="006491"/>
                </a:solidFill>
              </a:defRPr>
            </a:pPr>
            <a:r>
              <a:t>✔ Lines: 48,620 Order Items</a:t>
            </a:r>
          </a:p>
          <a:p>
            <a:pPr>
              <a:defRPr sz="1000">
                <a:solidFill>
                  <a:srgbClr val="006491"/>
                </a:solidFill>
              </a:defRPr>
            </a:pPr>
            <a:r>
              <a:t>✔ Orders: 21,350 Transactions</a:t>
            </a:r>
          </a:p>
          <a:p>
            <a:pPr>
              <a:defRPr sz="1000">
                <a:solidFill>
                  <a:srgbClr val="006491"/>
                </a:solidFill>
              </a:defRPr>
            </a:pPr>
            <a:r>
              <a:t>✔ Menu: 32 Pizzas / 96 SKUs</a:t>
            </a:r>
          </a:p>
          <a:p>
            <a:pPr>
              <a:defRPr sz="1000">
                <a:solidFill>
                  <a:srgbClr val="006491"/>
                </a:solidFill>
              </a:defRPr>
            </a:pPr>
            <a:r>
              <a:t>✔ Zero orphaned records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5486400" cy="1143000"/>
          </a:xfrm>
          <a:prstGeom prst="roundRect">
            <a:avLst/>
          </a:prstGeom>
          <a:solidFill>
            <a:srgbClr val="F0F9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0369A1"/>
                </a:solidFill>
              </a:defRPr>
            </a:pPr>
            <a:r>
              <a:t>DATA ANALYST INSIGHT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The dataset reflects genuine franchise operational dynamics with an AOV of $38.31 and average items per order of 2.32 pizzas.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5440680"/>
            <a:ext cx="539496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BE123C"/>
                </a:solidFill>
              </a:defRPr>
            </a:pPr>
            <a:r>
              <a:t>BUSINESS &amp; OPERATIONAL USE CASE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Franchise operators can use this baseline to benchmark store throughput, optimize product margins, and eliminate unprofitable menu complexity.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6491"/>
                </a:solidFill>
              </a:defRPr>
            </a:pPr>
            <a:r>
              <a:t>DOMINO'S ANALYTICS  |  DATA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2341"/>
                </a:solidFill>
              </a:defRPr>
            </a:pPr>
            <a:r>
              <a:t>Database Structure &amp; Relational Schema (ERD)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Four normalized relational tables supporting transactional tracking and multi-tier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03 / 16</a:t>
            </a:r>
          </a:p>
        </p:txBody>
      </p:sp>
      <p:pic>
        <p:nvPicPr>
          <p:cNvPr id="7" name="Picture 6" descr="er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0642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6491"/>
                </a:solidFill>
              </a:defRPr>
            </a:pPr>
            <a:r>
              <a:t>DOMINO'S ANALYTICS  |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2341"/>
                </a:solidFill>
              </a:defRPr>
            </a:pPr>
            <a:r>
              <a:t>SQL Analytics Workflow &amp;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A rigorous, repeatable 5-stage analytical pipeline from DDL creation to business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04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0574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06491"/>
                </a:solidFill>
              </a:defRPr>
            </a:pPr>
            <a:r>
              <a:t>01</a:t>
            </a:r>
          </a:p>
          <a:p>
            <a:pPr>
              <a:defRPr sz="1200" b="1">
                <a:solidFill>
                  <a:srgbClr val="0B2341"/>
                </a:solidFill>
              </a:defRPr>
            </a:pPr>
            <a:r>
              <a:t>Schema Design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Created database and 4 tables with primary keys &amp; foreign key constraints.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1645920"/>
            <a:ext cx="20574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284C7"/>
                </a:solidFill>
              </a:defRPr>
            </a:pPr>
            <a:r>
              <a:t>02</a:t>
            </a:r>
          </a:p>
          <a:p>
            <a:pPr>
              <a:defRPr sz="1200" b="1">
                <a:solidFill>
                  <a:srgbClr val="0B2341"/>
                </a:solidFill>
              </a:defRPr>
            </a:pPr>
            <a:r>
              <a:t>Data Ingestion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Loaded 48,620 line items and 21,350 orders. Verified zero orphaned keys.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645920"/>
            <a:ext cx="20574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E31837"/>
                </a:solidFill>
              </a:defRPr>
            </a:pPr>
            <a:r>
              <a:t>03</a:t>
            </a:r>
          </a:p>
          <a:p>
            <a:pPr>
              <a:defRPr sz="1200" b="1">
                <a:solidFill>
                  <a:srgbClr val="0B2341"/>
                </a:solidFill>
              </a:defRPr>
            </a:pPr>
            <a:r>
              <a:t>Query Engineering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Crafted 11 targeted queries using multi-table JOINs, CTEs, and aggregations.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9480" y="1645920"/>
            <a:ext cx="20574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D97706"/>
                </a:solidFill>
              </a:defRPr>
            </a:pPr>
            <a:r>
              <a:t>04</a:t>
            </a:r>
          </a:p>
          <a:p>
            <a:pPr>
              <a:defRPr sz="1200" b="1">
                <a:solidFill>
                  <a:srgbClr val="0B2341"/>
                </a:solidFill>
              </a:defRPr>
            </a:pPr>
            <a:r>
              <a:t>Validation Audit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Audited line-item vs physical units and chronological sorting enhancements.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1645920"/>
            <a:ext cx="20574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05</a:t>
            </a:r>
          </a:p>
          <a:p>
            <a:pPr>
              <a:defRPr sz="1200" b="1">
                <a:solidFill>
                  <a:srgbClr val="0B2341"/>
                </a:solidFill>
              </a:defRPr>
            </a:pPr>
            <a:r>
              <a:t>Business Insights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Translated numbers into actionable inventory, labor, and menu strategies.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440680"/>
            <a:ext cx="5486400" cy="1143000"/>
          </a:xfrm>
          <a:prstGeom prst="roundRect">
            <a:avLst/>
          </a:prstGeom>
          <a:solidFill>
            <a:srgbClr val="F0F9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0369A1"/>
                </a:solidFill>
              </a:defRPr>
            </a:pPr>
            <a:r>
              <a:t>DATA ANALYST INSIGHT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Relational joins (order_details -&gt; pizzas -&gt; pizza_types) allow granular calculation of revenue and volume at SKU, recipe, and category tiers.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440680"/>
            <a:ext cx="539496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BE123C"/>
                </a:solidFill>
              </a:defRPr>
            </a:pPr>
            <a:r>
              <a:t>BUSINESS &amp; OPERATIONAL USE CASE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Standardizing this workflow allows corporate analytics teams to deploy automated daily reporting across multi-franchise systems.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6491"/>
                </a:solidFill>
              </a:defRPr>
            </a:pPr>
            <a:r>
              <a:t>DOMINO'S ANALYTICS  |  QUERIES 01 &amp;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2341"/>
                </a:solidFill>
              </a:defRPr>
            </a:pPr>
            <a:r>
              <a:t>Macro Sales Performance: Total Orders &amp;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Establishing baseline store transaction volume, top-line sales, and basket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05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03520" cy="36576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defRPr sz="950">
                <a:solidFill>
                  <a:srgbClr val="64748B"/>
                </a:solidFill>
                <a:latin typeface="Consolas"/>
              </a:defRPr>
            </a:pPr>
            <a:r>
              <a:t>-- Query 1: Total Orders Placed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SELECT COUNT(order_id) AS Total_orders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FROM orders;</a:t>
            </a:r>
          </a:p>
          <a:p>
            <a:pPr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defRPr sz="950">
                <a:solidFill>
                  <a:srgbClr val="64748B"/>
                </a:solidFill>
                <a:latin typeface="Consolas"/>
              </a:defRPr>
            </a:pPr>
            <a:r>
              <a:t>-- Query 2: Total Revenue Generated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SELECT ROUND(SUM(o.quantity * p.price), 2) AS Total_revenue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FROM order_details o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LEFT JOIN pizzas p ON o.pizza_id = p.pizza_id;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256032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TOTAL ORDERS PLACED (Q1)</a:t>
            </a:r>
          </a:p>
          <a:p>
            <a:pPr>
              <a:defRPr sz="2600" b="1">
                <a:solidFill>
                  <a:srgbClr val="006491"/>
                </a:solidFill>
              </a:defRPr>
            </a:pPr>
            <a:r>
              <a:t>21,350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554480"/>
            <a:ext cx="26517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TOTAL REVENUE (Q2)</a:t>
            </a:r>
          </a:p>
          <a:p>
            <a:pPr>
              <a:defRPr sz="2600" b="1">
                <a:solidFill>
                  <a:srgbClr val="E31837"/>
                </a:solidFill>
              </a:defRPr>
            </a:pPr>
            <a:r>
              <a:t>$817,860.05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429000"/>
            <a:ext cx="256032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AVERAGE ORDER VALUE</a:t>
            </a:r>
          </a:p>
          <a:p>
            <a:pPr>
              <a:defRPr sz="2600" b="1">
                <a:solidFill>
                  <a:srgbClr val="10B981"/>
                </a:solidFill>
              </a:defRPr>
            </a:pPr>
            <a:r>
              <a:t>$38.31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3429000"/>
            <a:ext cx="26517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TOTAL UNITS SOLD</a:t>
            </a:r>
          </a:p>
          <a:p>
            <a:pPr>
              <a:defRPr sz="2600" b="1">
                <a:solidFill>
                  <a:srgbClr val="D97706"/>
                </a:solidFill>
              </a:defRPr>
            </a:pPr>
            <a:r>
              <a:t>49,574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440680"/>
            <a:ext cx="5486400" cy="1143000"/>
          </a:xfrm>
          <a:prstGeom prst="roundRect">
            <a:avLst/>
          </a:prstGeom>
          <a:solidFill>
            <a:srgbClr val="F0F9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0369A1"/>
                </a:solidFill>
              </a:defRPr>
            </a:pPr>
            <a:r>
              <a:t>DATA ANALYST INSIGHT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The store maintained an average sales velocity of $2,284.53 per operating day. With 2.32 pizzas per order, customers primarily order for group/family meals.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440680"/>
            <a:ext cx="539496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BE123C"/>
                </a:solidFill>
              </a:defRPr>
            </a:pPr>
            <a:r>
              <a:t>BUSINESS &amp; OPERATIONAL USE CASE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Basket Expansion: Implement targeted app upsells (sides, drinks) at checkout to nudge current $38.31 tickets toward $45.00+.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6491"/>
                </a:solidFill>
              </a:defRPr>
            </a:pPr>
            <a:r>
              <a:t>DOMINO'S ANALYTICS  |  QUERIES 03 &amp;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2341"/>
                </a:solidFill>
              </a:defRPr>
            </a:pPr>
            <a:r>
              <a:t>Pricing &amp; Size Dynamics: Premium SKUs vs Size Volume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Examining the highest-priced menu item and consumer size distribution preferences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06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03520" cy="19202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defRPr sz="950">
                <a:solidFill>
                  <a:srgbClr val="64748B"/>
                </a:solidFill>
                <a:latin typeface="Consolas"/>
              </a:defRPr>
            </a:pPr>
            <a:r>
              <a:t>-- Query 3: Highest-Priced Pizza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SELECT pt.name, p.price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FROM pizzas p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JOIN pizza_types pt ON p.pizza_type_id = pt.pizza_type_id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ORDER BY p.price DESC LIMIT 1;</a:t>
            </a:r>
          </a:p>
          <a:p>
            <a:pPr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defRPr sz="950">
                <a:solidFill>
                  <a:srgbClr val="64748B"/>
                </a:solidFill>
                <a:latin typeface="Consolas"/>
              </a:defRPr>
            </a:pPr>
            <a:r>
              <a:t>-- Query 4: Most Common Pizza Size Ordered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SELECT p.size, COUNT(od.order_id) AS TotaL_Order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FROM pizzas p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JOIN order_details od ON p.pizza_id = od.pizza_id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GROUP BY p.size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ORDER BY TotaL_Order DESC;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11880"/>
            <a:ext cx="530352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reek_pizz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749039"/>
            <a:ext cx="1280160" cy="1280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94560" y="3657600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HIGHEST PRICED PIZZA (Q3)</a:t>
            </a:r>
          </a:p>
          <a:p>
            <a:pPr>
              <a:defRPr sz="1350" b="1">
                <a:solidFill>
                  <a:srgbClr val="E31837"/>
                </a:solidFill>
              </a:defRPr>
            </a:pPr>
            <a:r>
              <a:t>The Greek Pizza (XXL) — $35.95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Only 28 XXL orders placed all year (0.06% of volume). High price does not drive sales.</a:t>
            </a:r>
          </a:p>
        </p:txBody>
      </p:sp>
      <p:pic>
        <p:nvPicPr>
          <p:cNvPr id="11" name="Picture 10" descr="q4_siz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394960" cy="36576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5440680"/>
            <a:ext cx="5486400" cy="1143000"/>
          </a:xfrm>
          <a:prstGeom prst="roundRect">
            <a:avLst/>
          </a:prstGeom>
          <a:solidFill>
            <a:srgbClr val="F0F9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0369A1"/>
                </a:solidFill>
              </a:defRPr>
            </a:pPr>
            <a:r>
              <a:t>DATA ANALYST INSIGHT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Large (L) is the clear consumer choice with 18,526 order lines (38.1%), followed by M (31.6%) and S (29.1%). XL and XXL are marginal niche sizes.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440680"/>
            <a:ext cx="539496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BE123C"/>
                </a:solidFill>
              </a:defRPr>
            </a:pPr>
            <a:r>
              <a:t>BUSINESS &amp; OPERATIONAL USE CASE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Packaging Supply Chain: Over 98.8% of box procurement must be allocated to L, M, and S sizes in a 38:32:29 ratio.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6491"/>
                </a:solidFill>
              </a:defRPr>
            </a:pPr>
            <a:r>
              <a:t>DOMINO'S ANALYTICS  |  QUERY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2341"/>
                </a:solidFill>
              </a:defRPr>
            </a:pPr>
            <a:r>
              <a:t>Top 5 Most Ordered Pizza Names by Quantity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Identifying the hero products commanding highest customer order volume and turnover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07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0352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defRPr sz="950">
                <a:solidFill>
                  <a:srgbClr val="64748B"/>
                </a:solidFill>
                <a:latin typeface="Consolas"/>
              </a:defRPr>
            </a:pPr>
            <a:r>
              <a:t>-- Top 5 most ordered pizza names by quantity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SELECT pizza_types.name,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     SUM(order_details.quantity) AS total_quantity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FROM pizza_types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JOIN pizzas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ON pizza_types.pizza_type_id = pizzas.pizza_type_id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JOIN order_details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ON pizzas.pizza_id = order_details.pizza_id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GROUP BY pizza_types.name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ORDER BY total_quantity DESC LIMIT 5;</a:t>
            </a:r>
          </a:p>
        </p:txBody>
      </p:sp>
      <p:pic>
        <p:nvPicPr>
          <p:cNvPr id="8" name="Picture 7" descr="pepperoni_pizz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0"/>
            <a:ext cx="1097280" cy="1097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9377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/>
            </a:pPr>
            <a:r>
              <a:t>Pepperoni</a:t>
            </a:r>
          </a:p>
        </p:txBody>
      </p:sp>
      <p:pic>
        <p:nvPicPr>
          <p:cNvPr id="10" name="Picture 9" descr="bbq_chick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3840480"/>
            <a:ext cx="1097280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65960" y="49377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/>
            </a:pPr>
            <a:r>
              <a:t>BBQ Chicken</a:t>
            </a:r>
          </a:p>
        </p:txBody>
      </p:sp>
      <p:pic>
        <p:nvPicPr>
          <p:cNvPr id="12" name="Picture 11" descr="hawaiian_pizz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3840480"/>
            <a:ext cx="1097280" cy="1097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0400" y="49377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/>
            </a:pPr>
            <a:r>
              <a:t>Hawaiian</a:t>
            </a:r>
          </a:p>
        </p:txBody>
      </p:sp>
      <p:pic>
        <p:nvPicPr>
          <p:cNvPr id="14" name="Picture 13" descr="thai_chicke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3840480"/>
            <a:ext cx="1097280" cy="1097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434840" y="493776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/>
            </a:pPr>
            <a:r>
              <a:t>Thai Chicken</a:t>
            </a:r>
          </a:p>
        </p:txBody>
      </p:sp>
      <p:pic>
        <p:nvPicPr>
          <p:cNvPr id="16" name="Picture 15" descr="q5_top5_pizza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1554480"/>
            <a:ext cx="5394960" cy="36576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48640" y="5440680"/>
            <a:ext cx="5486400" cy="1143000"/>
          </a:xfrm>
          <a:prstGeom prst="roundRect">
            <a:avLst/>
          </a:prstGeom>
          <a:solidFill>
            <a:srgbClr val="F0F9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0369A1"/>
                </a:solidFill>
              </a:defRPr>
            </a:pPr>
            <a:r>
              <a:t>DATA ANALYST INSIGHT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The top 5 pizzas represent 12,096 units (24.4% of all volume). The race among top 4 is tightly grouped (separated by only 35 units: 2,453 to 2,418).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5440680"/>
            <a:ext cx="539496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BE123C"/>
                </a:solidFill>
              </a:defRPr>
            </a:pPr>
            <a:r>
              <a:t>BUSINESS &amp; OPERATIONAL USE CASE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Ingredient Buffering: Maintain safety stocks for pepperoni, ham, chicken breast, pineapple, and barbecue sauce to prevent peak-time stockouts.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6491"/>
                </a:solidFill>
              </a:defRPr>
            </a:pPr>
            <a:r>
              <a:t>DOMINO'S ANALYTICS  |  QUERY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2341"/>
                </a:solidFill>
              </a:defRPr>
            </a:pPr>
            <a:r>
              <a:t>Operational Rhythm: Distribution of Orders by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Uncovering store traffic patterns, lunch vs. dinner rushes, and off-peak valleys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08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03520" cy="36576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defRPr sz="950">
                <a:solidFill>
                  <a:srgbClr val="64748B"/>
                </a:solidFill>
                <a:latin typeface="Consolas"/>
              </a:defRPr>
            </a:pPr>
            <a:r>
              <a:t>-- Distribution of orders by hour of the day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SELECT HOUR(time) AS hour,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     COUNT(order_id) AS order_count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FROM orders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GROUP BY hour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ORDER BY hour;</a:t>
            </a:r>
          </a:p>
        </p:txBody>
      </p:sp>
      <p:pic>
        <p:nvPicPr>
          <p:cNvPr id="8" name="Picture 7" descr="q6_hourl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394960" cy="3657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5486400" cy="1143000"/>
          </a:xfrm>
          <a:prstGeom prst="roundRect">
            <a:avLst/>
          </a:prstGeom>
          <a:solidFill>
            <a:srgbClr val="F0F9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0369A1"/>
                </a:solidFill>
              </a:defRPr>
            </a:pPr>
            <a:r>
              <a:t>DATA ANALYST INSIGHT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Traffic exhibits a classic dual-peak curve: Lunch Rush at 12:00-13:00 (4,975 orders) and Dinner Rush at 17:00-18:00 (4,735 orders). Together they drive 45.5% of store sales.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440680"/>
            <a:ext cx="539496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BE123C"/>
                </a:solidFill>
              </a:defRPr>
            </a:pPr>
            <a:r>
              <a:t>BUSINESS &amp; OPERATIONAL USE CASE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Shift Scheduling: Implement staggered split shifts (11:00-14:30 and 16:30-21:00). Use the 14:00-16:00 valley for dough prep, ingredient slicing, and restocking.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6491"/>
                </a:solidFill>
              </a:defRPr>
            </a:pPr>
            <a:r>
              <a:t>DOMINO'S ANALYTICS  |  QUERY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2341"/>
                </a:solidFill>
              </a:defRPr>
            </a:pPr>
            <a:r>
              <a:t>Top 3 Revenue-Generating Pizzas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Uncovering which specific recipes produce the highest gross dollar contribution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09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03520" cy="2011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defRPr sz="950">
                <a:solidFill>
                  <a:srgbClr val="64748B"/>
                </a:solidFill>
                <a:latin typeface="Consolas"/>
              </a:defRPr>
            </a:pPr>
            <a:r>
              <a:t>-- Top 3 most ordered pizza names by total revenue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SELECT pizza_types.name,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     ROUND(SUM(pizzas.price * order_details.quantity), 2) AS Total_revenue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FROM pizza_types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JOIN pizzas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ON pizza_types.pizza_type_id = pizzas.pizza_type_id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JOIN order_details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ON pizzas.pizza_id = order_details.pizza_id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GROUP BY pizza_types.name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ORDER BY total_revenue DESC LIMIT 3;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3035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ai_chick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0"/>
            <a:ext cx="1188720" cy="1188720"/>
          </a:xfrm>
          <a:prstGeom prst="rect">
            <a:avLst/>
          </a:prstGeom>
        </p:spPr>
      </p:pic>
      <p:pic>
        <p:nvPicPr>
          <p:cNvPr id="10" name="Picture 9" descr="bbq_chick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3840480"/>
            <a:ext cx="1188720" cy="1188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74720" y="3749039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31837"/>
                </a:solidFill>
              </a:defRPr>
            </a:pPr>
            <a:r>
              <a:t>CHICKEN PREMIUM EFFECT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All top 3 revenue leaders are Chicken pizzas ($127.6K total, 15.6% of sales).</a:t>
            </a:r>
          </a:p>
        </p:txBody>
      </p:sp>
      <p:pic>
        <p:nvPicPr>
          <p:cNvPr id="12" name="Picture 11" descr="q7_top3_revenue_pizz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554480"/>
            <a:ext cx="5394960" cy="36576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440680"/>
            <a:ext cx="5486400" cy="1143000"/>
          </a:xfrm>
          <a:prstGeom prst="roundRect">
            <a:avLst/>
          </a:prstGeom>
          <a:solidFill>
            <a:srgbClr val="F0F9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0369A1"/>
                </a:solidFill>
              </a:defRPr>
            </a:pPr>
            <a:r>
              <a:t>DATA ANALYST INSIGHT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The Chicken Premium Effect: All top 3 revenue leaders belong to the Chicken category ($43.4K, $42.8K, $41.4K). Together they generate $127.6K (15.6% of store revenue).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440680"/>
            <a:ext cx="539496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BE123C"/>
                </a:solidFill>
              </a:defRPr>
            </a:pPr>
            <a:r>
              <a:t>BUSINESS &amp; OPERATIONAL USE CASE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Menu Merchandising: Feature Thai Chicken and BBQ Chicken on app headers and meal combo banners to maximize ticket margin.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6491"/>
                </a:solidFill>
              </a:defRPr>
            </a:pPr>
            <a:r>
              <a:t>DOMINO'S ANALYTICS  |  QUERY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2341"/>
                </a:solidFill>
              </a:defRPr>
            </a:pPr>
            <a:r>
              <a:t>Category Revenue Contribution: Market Share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Common Table Expression (CTE) calculating relative dollar contribution across pizza categories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10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03520" cy="36576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defRPr sz="950">
                <a:solidFill>
                  <a:srgbClr val="64748B"/>
                </a:solidFill>
                <a:latin typeface="Consolas"/>
              </a:defRPr>
            </a:pPr>
            <a:r>
              <a:t>-- Percentage contribution of each category to total revenue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WITH ppp AS (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SELECT pizza_types.category,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       ROUND(SUM(pizzas.price * order_details.quantity), 2) AS Total_revenue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FROM pizza_types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JOIN pizzas ON pizza_types.pizza_type_id = pizzas.pizza_type_id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JOIN order_details ON pizzas.pizza_id = order_details.pizza_id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GROUP BY pizza_types.category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ORDER BY total_revenue DESC</a:t>
            </a:r>
          </a:p>
          <a:p>
            <a:pPr>
              <a:defRPr sz="950">
                <a:solidFill>
                  <a:srgbClr val="E2E8F0"/>
                </a:solidFill>
                <a:latin typeface="Consolas"/>
              </a:defRPr>
            </a:pPr>
            <a:r>
              <a:t>)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SELECT category,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     CONCAT(ROUND((total_revenue / (SELECT SUM(total_revenue) FROM ppp)) * 100, 2), "%") AS Percentage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FROM ppp;</a:t>
            </a:r>
          </a:p>
        </p:txBody>
      </p:sp>
      <p:pic>
        <p:nvPicPr>
          <p:cNvPr id="8" name="Picture 7" descr="q8_category_revenue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394960" cy="3657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5486400" cy="1143000"/>
          </a:xfrm>
          <a:prstGeom prst="roundRect">
            <a:avLst/>
          </a:prstGeom>
          <a:solidFill>
            <a:srgbClr val="F0F9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0369A1"/>
                </a:solidFill>
              </a:defRPr>
            </a:pPr>
            <a:r>
              <a:t>DATA ANALYST INSIGHT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Balanced Revenue Portfolio: Sales are remarkably well-balanced across all 4 categories (Classic 26.9%, Supreme 25.5%, Chicken 24.0%, Veggie 23.7%), providing strong revenue resilience.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440680"/>
            <a:ext cx="539496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BE123C"/>
                </a:solidFill>
              </a:defRPr>
            </a:pPr>
            <a:r>
              <a:t>BUSINESS &amp; OPERATIONAL USE CASE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Cross-Segment Protection: Maintain menu breadth across all dietary segments; corporate lunch orders depend on catering to both vegetarian and meat-eating diners.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6491"/>
                </a:solidFill>
              </a:defRPr>
            </a:pPr>
            <a:r>
              <a:t>DOMINO'S ANALYTICS  |  QUERIES 09 &amp;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2341"/>
                </a:solidFill>
              </a:defRPr>
            </a:pPr>
            <a:r>
              <a:t>Category Volume vs Menu Breadth: SKU Productivity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Comparing unit sales volume against menu item counts to uncover operational productivity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11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03520" cy="36576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defRPr sz="950">
                <a:solidFill>
                  <a:srgbClr val="64748B"/>
                </a:solidFill>
                <a:latin typeface="Consolas"/>
              </a:defRPr>
            </a:pPr>
            <a:r>
              <a:t>-- Query 9: Total Quantity by Category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SELECT pizza_types.category, SUM(order_details.quantity) AS total_quantity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FROM pizza_types JOIN pizzas ON pizza_types.pizza_type_id = pizzas.pizza_type_id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JOIN order_details ON pizzas.pizza_id = order_details.pizza_id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GROUP BY pizza_types.category ORDER BY total_quantity DESC LIMIT 5;</a:t>
            </a:r>
          </a:p>
          <a:p>
            <a:pPr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defRPr sz="950">
                <a:solidFill>
                  <a:srgbClr val="64748B"/>
                </a:solidFill>
                <a:latin typeface="Consolas"/>
              </a:defRPr>
            </a:pPr>
            <a:r>
              <a:t>-- Query 10: Number of Pizzas in Each Category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SELECT category, COUNT(name) AS Total_pizza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FROM pizza_types GROUP BY category ORDER BY Total_pizza DESC;</a:t>
            </a:r>
          </a:p>
        </p:txBody>
      </p:sp>
      <p:pic>
        <p:nvPicPr>
          <p:cNvPr id="8" name="Picture 7" descr="q9_q10_category_volume_vs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394960" cy="3657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5486400" cy="1143000"/>
          </a:xfrm>
          <a:prstGeom prst="roundRect">
            <a:avLst/>
          </a:prstGeom>
          <a:solidFill>
            <a:srgbClr val="F0F9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0369A1"/>
                </a:solidFill>
              </a:defRPr>
            </a:pPr>
            <a:r>
              <a:t>DATA ANALYST INSIGHT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Chicken generates $32,653 revenue per menu SKU (6 items), while Veggie yields only $21,521 across 9 items. Chicken is 51% more productive on a per-item basis.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440680"/>
            <a:ext cx="539496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BE123C"/>
                </a:solidFill>
              </a:defRPr>
            </a:pPr>
            <a:r>
              <a:t>BUSINESS &amp; OPERATIONAL USE CASE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Menu Rationalization: Audit low-turnover veggie recipes (Green Garden, Brie Carre) and introduce 1-2 new chicken variants to boost total menu yield.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6491"/>
                </a:solidFill>
              </a:defRPr>
            </a:pPr>
            <a:r>
              <a:t>DOMINO'S ANALYTICS  |  QUERY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2341"/>
                </a:solidFill>
              </a:defRPr>
            </a:pPr>
            <a:r>
              <a:t>Monthly Revenue Performance &amp; Trend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Analyzing 2015 revenue seasonality and demonstrating chronological time-series ordering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12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03520" cy="36576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defRPr sz="950">
                <a:solidFill>
                  <a:srgbClr val="64748B"/>
                </a:solidFill>
                <a:latin typeface="Consolas"/>
              </a:defRPr>
            </a:pPr>
            <a:r>
              <a:t>-- Query 11: Total Revenue Month-Wise (Original)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SELECT MONTHNAME(orders.date) AS month,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     ROUND(SUM(pizzas.price * order_details.quantity), 2) AS Total_revenue 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FROM orders JOIN order_details ON orders.order_id = order_details.order_id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JOIN pizzas ON pizzas.pizza_id = order_details.pizza_id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GROUP BY month;</a:t>
            </a:r>
          </a:p>
          <a:p>
            <a:pPr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defRPr sz="950">
                <a:solidFill>
                  <a:srgbClr val="64748B"/>
                </a:solidFill>
                <a:latin typeface="Consolas"/>
              </a:defRPr>
            </a:pPr>
            <a:r>
              <a:t>-- Senior Enhancement (Chronological Ordering):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SELECT MONTH(orders.date) AS month_num, MONTHNAME(orders.date) AS month,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       ROUND(SUM(pizzas.price * order_details.quantity), 2) AS Total_revenue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FROM orders JOIN order_details ON orders.order_id = order_details.order_id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JOIN pizzas ON pizzas.pizza_id = order_details.pizza_id</a:t>
            </a:r>
          </a:p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GROUP BY month_num, month ORDER BY month_num ASC;</a:t>
            </a:r>
          </a:p>
        </p:txBody>
      </p:sp>
      <p:pic>
        <p:nvPicPr>
          <p:cNvPr id="8" name="Picture 7" descr="q11_monthly_revenue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394960" cy="3657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5486400" cy="1143000"/>
          </a:xfrm>
          <a:prstGeom prst="roundRect">
            <a:avLst/>
          </a:prstGeom>
          <a:solidFill>
            <a:srgbClr val="F0F9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0369A1"/>
                </a:solidFill>
              </a:defRPr>
            </a:pPr>
            <a:r>
              <a:t>DATA ANALYST INSIGHT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Stable Recurring Cash Flow: Monthly revenue averages $68,155/mo with a tight 4% CV. July represents peak summer dining ($72,558), while October marks the annual trough ($64,028).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440680"/>
            <a:ext cx="5394960" cy="114300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950">
                <a:solidFill>
                  <a:srgbClr val="BE123C"/>
                </a:solidFill>
              </a:defRPr>
            </a:pPr>
            <a:r>
              <a:t>BUSINESS &amp; OPERATIONAL USE CASE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Seasonal Marketing: Deploy fall promotional campaigns ('Octoberfest Deals') to smooth out the October trough, and front-load marketing in June for peak summer capture.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6491"/>
                </a:solidFill>
              </a:defRPr>
            </a:pPr>
            <a:r>
              <a:t>DOMINO'S ANALYTICS  |  EXECUTIVE COCKPIT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2341"/>
                </a:solidFill>
              </a:defRPr>
            </a:pPr>
            <a:r>
              <a:t>Executive Performance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A high-level business scorecard synthesizing verified KPIs across volume, revenue, and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13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TOTAL ANNUAL REVENUE</a:t>
            </a:r>
          </a:p>
          <a:p>
            <a:pPr>
              <a:defRPr sz="2200" b="1">
                <a:solidFill>
                  <a:srgbClr val="006491"/>
                </a:solidFill>
              </a:defRPr>
            </a:pPr>
            <a:r>
              <a:t>$817,860.05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49,574 pizzas across 358 operating days in 2015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554480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TOTAL ORDERS PROCESSED</a:t>
            </a:r>
          </a:p>
          <a:p>
            <a:pPr>
              <a:defRPr sz="2200" b="1">
                <a:solidFill>
                  <a:srgbClr val="E31837"/>
                </a:solidFill>
              </a:defRPr>
            </a:pPr>
            <a:r>
              <a:t>21,350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Avg. 59.6 customer transactions per 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79" y="1554480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AVERAGE ORDER VALUE (AOV)</a:t>
            </a:r>
          </a:p>
          <a:p>
            <a:pPr>
              <a:defRPr sz="2200" b="1">
                <a:solidFill>
                  <a:srgbClr val="0B2341"/>
                </a:solidFill>
              </a:defRPr>
            </a:pPr>
            <a:r>
              <a:t>$38.31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Reflects 2.32 pizzas per customer transaction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1554480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TOTAL UNIT VOLUME</a:t>
            </a:r>
          </a:p>
          <a:p>
            <a:pPr>
              <a:defRPr sz="2200" b="1">
                <a:solidFill>
                  <a:srgbClr val="0284C7"/>
                </a:solidFill>
              </a:defRPr>
            </a:pPr>
            <a:r>
              <a:t>49,574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Units sold across 32 recipes and 5 sizes (S-XXL)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26060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TOP REVENUE GENERATOR</a:t>
            </a:r>
          </a:p>
          <a:p>
            <a:pPr>
              <a:defRPr sz="1500" b="1">
                <a:solidFill>
                  <a:srgbClr val="E31837"/>
                </a:solidFill>
              </a:defRPr>
            </a:pPr>
            <a:r>
              <a:t>The Thai Chicken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$43,434.25 total revenue (5.31% of sales)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3246120"/>
            <a:ext cx="26060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TOP VOLUME PRODUCT</a:t>
            </a:r>
          </a:p>
          <a:p>
            <a:pPr>
              <a:defRPr sz="1500" b="1">
                <a:solidFill>
                  <a:srgbClr val="006491"/>
                </a:solidFill>
              </a:defRPr>
            </a:pPr>
            <a:r>
              <a:t>The Classic Deluxe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2,453 pizzas sold (4.95% of aggregate volume)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79" y="3246120"/>
            <a:ext cx="26060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MOST POPULAR SIZE</a:t>
            </a:r>
          </a:p>
          <a:p>
            <a:pPr>
              <a:defRPr sz="1500" b="1">
                <a:solidFill>
                  <a:srgbClr val="D97706"/>
                </a:solidFill>
              </a:defRPr>
            </a:pPr>
            <a:r>
              <a:t>Large (L)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18,526 order lines (38.1% of all customer orders)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3246120"/>
            <a:ext cx="26060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PEAK OPERATIONAL HOURS</a:t>
            </a:r>
          </a:p>
          <a:p>
            <a:pPr>
              <a:defRPr sz="1500" b="1">
                <a:solidFill>
                  <a:srgbClr val="10B981"/>
                </a:solidFill>
              </a:defRPr>
            </a:pPr>
            <a:r>
              <a:t>12 PM &amp; 6 PM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45.5% of daily store volume in lunch &amp; dinner peaks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54880"/>
            <a:ext cx="110642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0B2341"/>
                </a:solidFill>
              </a:defRPr>
            </a:pPr>
            <a:r>
              <a:t>CATEGORY PERFORMANCE SUMMARY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Classic Category:  8 Menu SKUs  |  14,888 Units Sold (30.0%)  |  $220,053.10 Revenue (26.91%)  |  $27,506 Rev/SKU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Supreme Category:  9 Menu SKUs  |  11,987 Units Sold (24.2%)  |  $208,197.00 Revenue (25.46%)  |  $23,133 Rev/SKU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Chicken Category:  6 Menu SKUs  |  11,050 Units Sold (22.3%)  |  $195,919.50 Revenue (23.96%)  |  $32,653 Rev/SKU (Leader)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Veggie Category:   9 Menu SKUs  |  11,649 Units Sold (23.5%)  |  $193,690.45 Revenue (23.68%)  |  $21,521 Rev/SKU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6491"/>
                </a:solidFill>
              </a:defRPr>
            </a:pPr>
            <a:r>
              <a:t>DOMINO'S ANALYTICS  |  STRATEGIC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2341"/>
                </a:solidFill>
              </a:defRPr>
            </a:pPr>
            <a:r>
              <a:t>Actionable Strategic Business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Four data-grounded operational and commercial initiatives to optimize store profitability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14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6491"/>
                </a:solidFill>
              </a:defRPr>
            </a:pPr>
            <a:r>
              <a:t>PILLAR 1: INVENTORY &amp; SAFETY STOCK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Data: Top 5 pizzas generate 24.4% of volume (12,096 units).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Action: Automated reorder triggers for pepperoni, chicken breast, ham, pineapple, mozzarella.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Delivery: Schedule supplier deliveries on Tuesday &amp; Friday mornings to protect weekend surges.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E31837"/>
                </a:solidFill>
              </a:defRPr>
            </a:pPr>
            <a:r>
              <a:t>PILLAR 2: MENU ENGINEERING &amp; PRUNING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Data: Chicken delivers $32.6K rev/SKU (6 items) vs Veggie's $21.5K (9 items).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Action: Test 1-2 new seasonal chicken variants (e.g. Buffalo Chicken).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Pruning: Streamline the bottom 3 lowest-turnover veggie recipes to cut prep complexity.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1148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284C7"/>
                </a:solidFill>
              </a:defRPr>
            </a:pPr>
            <a:r>
              <a:t>PILLAR 3: LABOR &amp; OVEN STAGING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Data: Twin peaks at 12:00-13:00 (4,975 orders) and 17:00-18:00 (4,735 orders).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Action: Split shifts (11:00-14:30 &amp; 16:30-21:00) to double kitchen capacity during rushes.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Prep: Reserve 14:00-16:00 for dough stretching, sauce portioning, and box assembly.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1148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PILLAR 4: BASKET SIZE &amp; UPSELLING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Data: Average Order Value is $38.31 (2.32 pizzas/order); Large is 38.1% of lines.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Action: Introduce Family Meal Deals (2 Large + Side + 2L Drink for $44.99).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App Upsell: One-click dip and beverage recommendations at checkout to lift AOV past $45.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6491"/>
                </a:solidFill>
              </a:defRPr>
            </a:pPr>
            <a:r>
              <a:t>DOMINO'S ANALYTICS  |  TECHNICAL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B2341"/>
                </a:solidFill>
              </a:defRPr>
            </a:pPr>
            <a:r>
              <a:t>Technical Validation &amp; SQL Quality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Documenting data governance, cross-engine compatibility, and query optimization 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457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15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B2341"/>
                </a:solidFill>
              </a:defRPr>
            </a:pPr>
            <a:r>
              <a:t>DATA GOVERNANCE &amp; INTEGRITY CHECKS</a:t>
            </a:r>
            <a:br/>
          </a:p>
          <a:p>
            <a:pPr>
              <a:defRPr sz="1000">
                <a:solidFill>
                  <a:srgbClr val="15803D"/>
                </a:solidFill>
              </a:defRPr>
            </a:pPr>
            <a:r>
              <a:t>✔ Zero Orphaned Foreign Keys: Audited 48,620 line items in order_details. 100% match valid orders and valid pizzas.</a:t>
            </a:r>
          </a:p>
          <a:p>
            <a:pPr>
              <a:defRPr sz="1000">
                <a:solidFill>
                  <a:srgbClr val="15803D"/>
                </a:solidFill>
              </a:defRPr>
            </a:pPr>
            <a:r>
              <a:t>✔ Deterministic Revenue: Transaction sum ($817,860.05) reconciles exactly with category sums ($220.1K + $208.2K + $195.9K + $193.7K). Discrepancy is $0.00.</a:t>
            </a:r>
          </a:p>
          <a:p>
            <a:pPr>
              <a:defRPr sz="1000">
                <a:solidFill>
                  <a:srgbClr val="15803D"/>
                </a:solidFill>
              </a:defRPr>
            </a:pPr>
            <a:r>
              <a:t>✔ Temporal Completeness: 358 operating days in 2015 without anomalous timestamps.</a:t>
            </a:r>
          </a:p>
          <a:p>
            <a:pPr>
              <a:defRPr sz="1000">
                <a:solidFill>
                  <a:srgbClr val="15803D"/>
                </a:solidFill>
              </a:defRPr>
            </a:pPr>
            <a:r>
              <a:t>✔ Metric Nuance: Query 4 calculates line items (18,526) vs units (18,956). Both establish Large as the top size.</a:t>
            </a:r>
          </a:p>
          <a:p>
            <a:pPr>
              <a:defRPr sz="1000">
                <a:solidFill>
                  <a:srgbClr val="15803D"/>
                </a:solidFill>
              </a:defRPr>
            </a:pPr>
            <a:r>
              <a:t>✔ Chronological Ordering: Restored chronological sequencing to Query 11 for executive reporting.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3949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B2341"/>
                </a:solidFill>
              </a:defRPr>
            </a:pPr>
            <a:r>
              <a:t>QUERY OPTIMIZATION &amp; BEST PRACTICES</a:t>
            </a:r>
            <a:br/>
          </a:p>
          <a:p>
            <a:pPr>
              <a:defRPr sz="1000">
                <a:solidFill>
                  <a:srgbClr val="006491"/>
                </a:solidFill>
              </a:defRPr>
            </a:pPr>
            <a:r>
              <a:t>⚡ Indexing Strategies: FK indexing on order_details(pizza_id) and pizzas(pizza_type_id) ensures sub-millisecond hash joins.</a:t>
            </a:r>
          </a:p>
          <a:p>
            <a:pPr>
              <a:defRPr sz="1000">
                <a:solidFill>
                  <a:srgbClr val="006491"/>
                </a:solidFill>
              </a:defRPr>
            </a:pPr>
            <a:r>
              <a:t>⚡ CTE Readability: Query 8 utilized Common Table Expressions for modular clarity and optimal query execution plans.</a:t>
            </a:r>
          </a:p>
          <a:p>
            <a:pPr>
              <a:defRPr sz="1000">
                <a:solidFill>
                  <a:srgbClr val="006491"/>
                </a:solidFill>
              </a:defRPr>
            </a:pPr>
            <a:r>
              <a:t>⚡ Cross-Engine Portability: MySQL native functions (HOUR, MONTHNAME, CONCAT) verified for standard SQL migration.</a:t>
            </a:r>
          </a:p>
          <a:p>
            <a:pPr>
              <a:defRPr sz="1000">
                <a:solidFill>
                  <a:srgbClr val="006491"/>
                </a:solidFill>
              </a:defRPr>
            </a:pPr>
            <a:r>
              <a:t>⚡ Aggregation Precision: Enforced ROUND(..., 2) on all monetary metrics to prevent floating-point rounding errors.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3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izza_din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731520"/>
            <a:ext cx="4754880" cy="2926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91440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PROJECT COMPLETION  |  PORTFOLIO CASE STUDY</a:t>
            </a:r>
          </a:p>
          <a:p>
            <a:pPr>
              <a:defRPr sz="3000" b="1">
                <a:solidFill>
                  <a:srgbClr val="FFFFFF"/>
                </a:solidFill>
              </a:defRPr>
            </a:pPr>
            <a:r>
              <a:t>DOMINO'S PIZZA SQL ANALYSIS</a:t>
            </a:r>
            <a:br/>
            <a:r>
              <a:t>From Raw Transactions to Strategic Value</a:t>
            </a:r>
          </a:p>
          <a:p>
            <a:pPr>
              <a:defRPr sz="1250">
                <a:solidFill>
                  <a:srgbClr val="CBD5E1"/>
                </a:solidFill>
              </a:defRPr>
            </a:pPr>
            <a:r>
              <a:t>Demonstrating end-to-end data analyst proficiency in relational database architecture, SQL joins and aggregations, statistical verification, and executive storytelling.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37760"/>
            <a:ext cx="2468880" cy="1188720"/>
          </a:xfrm>
          <a:prstGeom prst="roundRect">
            <a:avLst/>
          </a:prstGeom>
          <a:solidFill>
            <a:srgbClr val="112A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6491"/>
                </a:solidFill>
              </a:defRPr>
            </a:pPr>
            <a:r>
              <a:t>Relational Modeling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4 tables, PKs, FKs, zero orphaned records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4937760"/>
            <a:ext cx="2468880" cy="1188720"/>
          </a:xfrm>
          <a:prstGeom prst="roundRect">
            <a:avLst/>
          </a:prstGeom>
          <a:solidFill>
            <a:srgbClr val="112A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Advanced SQL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CTEs, joins, aggregations, time-series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937760"/>
            <a:ext cx="2468880" cy="1188720"/>
          </a:xfrm>
          <a:prstGeom prst="roundRect">
            <a:avLst/>
          </a:prstGeom>
          <a:solidFill>
            <a:srgbClr val="112A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31837"/>
                </a:solidFill>
              </a:defRPr>
            </a:pPr>
            <a:r>
              <a:t>Business Intelligence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Revenue velocity, AOV, size dynamics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4937760"/>
            <a:ext cx="2468880" cy="1188720"/>
          </a:xfrm>
          <a:prstGeom prst="roundRect">
            <a:avLst/>
          </a:prstGeom>
          <a:solidFill>
            <a:srgbClr val="112A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Actionable Strategy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Inventory buffers, shift rosters, menu pruning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